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Welcome the committee: Prof. Denis Fantinato (advisor), Prof. Alexandre Simoes, Prof. Joao Kleinschmidt. State the title slowly. One-sentence framing: this dissertation asks WHEN a learning-based defender genuinely earns its place in IoT security, and answers it with a controlled, reproducible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before the defense: fill in the biography placeholders (education, professional role, interests) and paste your photo into the framed box. Keep it to 45 seconds — the committee knows you; this is for the public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agenda in ~40 seconds. Emphasize the shape of the talk: first I teach the background (kill chain + RL + partial observability), then I state the research question, then the framework we built, then the evidence, then what it means. Total ~35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Teach: scale first. 19.8 billion devices in 2025, forecast to more than double to 40.6 billion by 2034 (Statista). Cybercrime damages projected at USD 12.2 trillion annually by 2031 (Cybersecurity Ventures / Morgan). Then the three structural reasons traditional IT security fails on IoT: (1) devices are resource-constrained — no room for antivirus/firewall agents; (2) extreme heterogeneity — no uniform policy enforcement; (3) signature IDS is reactive — zero-days have no signature, and anomaly IDS drowns in false positives on heterogeneous traffic. Land the conclusion: we need defense that is adaptive, data-driven, autonomous.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vocabulary slide — teach it well, everything later hangs on it. An intrusion is not one event; it is a campaign in stages. Walk the five stages with the story: attacker scans (RECON), gets a foothold (ACCESS), moves laterally / positions (MANEUVER), and detonates — DDoS, exfiltration (IMPACT). Two teaching points: (1) stopping an attack EARLY is cheap, stopping it LATE is expensive; (2) each stage has a proportionate response — the recommended-action mapping (IoTWarden). Over-reacting has a real availability cost: you cannot isolate the network on every port scan. This stage-to-action alignment is what our reward and our attacker dynamics are built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brisk — the committee knows RL; this is calibration, not a lecture. Agent observes state, picks action, environment returns reward and next state; the agent learns a policy maximizing cumulative discounted reward. No labels — learning from interaction; credit assignment over time is the hard part. Three algorithms, spanning the two model-free families: DQN (off-policy, value-based, replay buffer), PPO and A2C (on-policy actor-critic; PPO adds clipped updates). Foreshadow: the on-policy/off-policy distinction becomes an empirical finding later — remember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central concept of the thesis — spend time here. In an MDP the agent sees the true state. Our defender never does: the true kill-chain stage is latent. It sees only traffic features — and adjacent stages EMIT OVERLAPPING FEATURES. That is partial observability (POMDP): observations are drawn from an observation kernel Z, and the optimal policy must act on a BELIEF built from history, not on a single observation. Teaching metaphor: a doctor who never sees the disease, only symptoms — and adjacent diseases share symptoms; one snapshot cannot diagnose, a case history can. Our agent approximates belief with a sliding window of the last 5 observations. Foreshadow: we make ambiguity a CONTROLLED DIAL (aliasing rate alpha) and study defense as a function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down; this is the thesis in one slide. The naive pitch — 'RL beats a classifier' — is not a scientific claim until you ask WHEN and WHY. If every flow reveals the attacker's intent, defense collapses to per-flow classification, and a well-tuned classifier is the right tool. RL earns its keep only when the problem is genuinely sequential AND partially observed. So the dissertation poses the skeptic's objection to itself: 'your agent is solving a disguised classification problem' — and designs experiments to answer it. Everything that follows is that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breath per card; each returns later with evidence. 1: a genuinely partially observable kill-chain environment on real CICIoT2023 traffic with a reactive attacker — the instrument. 2: the controlled crossover — tie at alpha=0, separation as ambiguity grows. 3: reward ablation — the advantage survives removing the shaped reward (kills the privileged-reward objection). 4: on ten held-out attack classes the RL defender prevents more on every class, independent of detector recall. 5: honest algorithm-reliability reporting + a fully hash-pinned reproducible artifact chain (462 tests).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with the figure (thesis Fig. 3.1): three blocks. Offline preparation — project CICIoT2023 onto the 5-stage kill chain, specify the closed-form attacker, train the supervised stage detector (it powers the baseline, not our agent). Online loop — attacker emits a stage; realization engine samples a real feature row for that stage (session-coherent, aliased); Gymnasium env builds the windowed observation; blue-team agent acts; escalation kernel moves the attacker. Held-out evaluation — benchmark vs baselines + oracle, then ablations. Key sentence: the loop is genuinely CLOSED — the environment responds to the defender's action; it does not replay a fixed 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dataset: contemporary, large, real. 105 physical IoT devices at the Canadian Institute for Cybersecurity; 33 attack types in 7 categories, attacks launched BY compromised IoT devices against others — realistic botnet behavior. Each row is a pre-aggregated flow record: 46 statistical features. We apply a leakage-safe funnel — fit on the training partition only — removing zero-variance, low-variance, and highly correlated columns: 29 features survive (timing/rate, header/size, TCP flags, protocol indicators, distribution moments). Training pool after reserving OOD classes: 235,324 rows. Point to the funnel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moves. First, a deterministic map psi projects each of the 34 CICIoT2023 labels onto exactly one kill-chain stage: scanners to RECON, brute-force/injection to ACCESS, spoofing + Mirai staging to MANEUVER, DoS/DDoS floods to IMPACT. Each stage now has an empirical feature distribution — the environment samples real rows per stage. Second, the splits protocol: TEN attack classes (at least two per non-benign stage) are RESERVED — never seen in training by either the detector or the agents. They become our zero-day-like stress test later. Disjointness is asserted by automated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Anticipates the objection 'you fabricated the ambiguity'. PCA projection of the 29-dim feature space, colored by stage: IMPACT floods separate sharply (flag counts, rates), but BENIGN/RECON — and the middle of the chain — overlap substantially. Even with full feature information, neighboring stages are not linearly separable. So the aliasing dial alpha AMPLIFIES a real property of the data; it does not invent one. Mention session coherence honestly: CICIoT2023 has no session key, so within-stage draws are made contiguous at the environment layer — a modeling abstraction, declared as such (limitations).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attacker is not a script — it reacts to the defender's force. Signed force gap d = action minus recommended action for the true stage. Three regimes: proportionate (d=0) pushes the attacker DOWN one stage with p=0.90 (0.98 for ISOLATE); under-force (d≤−1) lets it ADVANCE with p_up scaled by proximity — momentum compounds as it nears IMPACT (sigma_min=0.4); over-force (d≥+1) merely HOLDS — and the reward still charges the availability cost. Onset is autonomous from BENIGN (p=0.35 to RECON, 0.10 straight to ACCESS — stolen credential). PREVENTION = holding the attacker below IMPACT for the whole 100-step horizon. Closed form, no learned attacker: fully specified, reproducible threat model — a declared scope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partial observability is instrumented. Top figure: the state machine — solid arrows are attacker transitions; dashed arrows are ALIASING: with probability alpha, the emitted feature row comes from an ADJACENT stage, not the true one. Z is a two-component mixture: (1−α) own-stage + α adjacent-stage. At α=0, single rows are informative; at α=1 every row misleads. Same aliased stream feeds every policy — nobody is privileged. Bottom: what the agent actually sees — the last 5 rows + their temporal deltas, stacked into 290 dims. The window is the agent's only belief machinery; the RF baseline reads one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design decision. The COUPLED reward pays per step for choosing the stage-recommended action — but that rewards exactly what a supervised classifier predicts: training under it alone would conflate 'learned to defend' with 'imitated a lookup table'. So the PRIMARY contract is the sparse OUTCOME reward: action costs + terminal accounting + prevention bonus — no per-step stage hints. Much harder credit assignment (reward arrives ~100 steps late), but it measures defense, not imitation. The coupled variant is retained ONLY as the ablation that answers the privileged-reward objection. Benign guardrails and caps prevent degenerate block-everything policies; availability cost rises with action severity.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competes. Learned agents: PPO, A2C, DQN — windowed observation, never see the true stage, never consume the detector. Deployable baseline: RF-Acting — a hyperparameter-TUNED RandomForest stage detector (macro-F1 0.924; the strongest classifier a practitioner would ship, not a straw man) + the recommended-action rule; memoryless: one row, one action. Trivial baselines: always-observe, always-block, random — they bracket the reward scale. And the ORACLE: same action rule but reading the TRUE stage — not a competitor, a measuring instrument: it prices perfect perception (+194.8 ceiling). Figure: detector position — RF-Acting consumes the detector; our agents bypass it. That architectural contrast is the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Rigor slide — deliver with quiet confidence. 10 seeds per algorithm; FIXED 5M-step budget, NO early stopping (an early-stop rule tuned to one algorithm truncates another — and full budgets are what exposed DQN's instability). Best-on-validation checkpoint carried forward. Evaluation: n=300 episodes per policy on the held-out balanced-test split; 95% bootstrap CIs; separation = disjoint intervals — a conservative criterion. Everything CPU-only. Reproducibility: every figure ships a manifest pinning input hashes + git commit; 462 automated tests; the whole chain re-verifies on a fresh checkout. All numbers ahead carry these guarantees.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result. Learning curves over 5M steps, 10 seeds, sparse outcome reward, headline alpha 0.4. Dashed grey band = RF-Acting reference; dash-dot black = oracle ceiling. Read: both ON-POLICY algorithms climb out of the negative regime and plateau — best-checkpoint PPO +121.3 (sd ~15), A2C +138.7 (sd ~9, the tightest). OFF-POLICY DQN destabilizes without per-step shaping: best-checkpoint +72.5, across-seed sd ~52, seeds ranging roughly −15 to +132 — replay does not bootstrap credit across a 100-step sparse episode. Finding: the on-policy advantage is TRAINING RELIABILITY, not peak return. We report all three — including the unstable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favorite teaching slide: the algorithms did not just score differently — they learned different DEFENSIVE PHILOSOPHIES. Per-stage action distributions (rows: A2C, PPO, DQN; columns: BENIGN→IMPACT). A2C: prevent-at-maneuver — blocks 84.4% of MANEUVER steps, suppresses the mid-chain advance, never isolates. PPO: contain-at-impact — tolerates deeper penetration, then acts at the final stage. Both benign-safe on the left column (aggressive action on &lt;1% of benign flows). Neither doctrine was programmed — both emerged from the same sparse reward. This interpretability matters for a security operator: strategy, not black-box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slide of the defense — take your time. X-axis: aliasing rate alpha (ambiguity dial). Y: mean episodic reward on the held-out split, 95% bootstrap CIs. Walk it in order. (1) At α=0, honesty anchor: PPO +138.6 vs RF +136.5 — STATISTICAL TIE, overlapping CIs: the environment does NOT favor RL by construction; where the task is per-flow classification, the classifier ties. (2) As α rises, RF-Acting degrades MONOTONICALLY: +113.2, +94.4, +64.0, +20.5 … −29.3 at α=1 — NET-HARMFUL, worse than doing nothing's baseline of always-block at ~0. (3) Windowed PPO stays FLAT — no monotonic trend; the window absorbs the ambiguity. (4) From α=0.4 (headline): DISJOINT CIs — gap +26.9, widening to +161.2 at α=1. Oracle flat at +194.8 prices perfect perception. One sentence: when observation gets ambiguous, memoryless classification collapses; windowed control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Answering the privileged-reward objection head-on. Retrain EVERYTHING under both contracts; score RF under the same contract each time. Coupled: best learned agent is DQN +226.2 — thrives on dense shaping — RF-minus-best-RL = −63.1 (RL leads). Outcome: best learned agent is A2C +146.1 — gap −63.0, virtually identical. Two lessons: (1) the RL-vs-RF separation does NOT depend on the privileged shaping — objection closed; (2) the reward contract changes WHICH algorithm wins: DQN's coupled win evaporates under sparsity (−8.6 pooled mean, variance triples) — the same replay machinery that exploits dense signals fails sparse credit assignment. Off-policy value bootstrapping needs shaping; on-policy tolerates its absence.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off-distribution stress tests on FIXED policies — trained once, never retrained per condition. Left (difficulty sweep): lower p_down = proportionate actions less likely to push the attacker back; monotone response, no rank inversions; A2C leads at EVERY difficulty (−7.2 at the harshest → +147.3 at the easiest); the prevent-at-maneuver doctrine loses the least ground exactly where it is harshest. DQN's fragility reappears as the widest bands. Right (evasion sweep): attacker hardens against eviction after sensing force (post-detection hardening, up to 0.75). Pre-registered criterion: lower CI bound must not fall more than 25% of evasion-free mean. A2C +142.6 → +112.7, compromise 0.23 → 0.41 — CLEARS it; PPO narrowly misses; DQN within band but from a low base. Graceful degradation, not collapse — and a real A2C-over-PPO separation.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zero-day-like probe. The 10 reserved classes are injected at their true stage into an otherwise in-distribution episode (single-stage feature injection) at headline alpha. Metric: PREVENTION RATE — attacker held below IMPACT for the whole episode. Grid: rows = policies, columns = classes. Best windowed RL (A2C) prevents 0.71–0.85 on EVERY class; RF-Acting 0.00–0.15. Advantage +0.70 to +0.78 per class. Note honestly: always-block 'prevents' 1.0 everywhere — by quarantining 100% of benign traffic; reward 0.0; operationally inadmissible. The meaningful frontier is prevention WHILE benign-safe (&lt;1% FPR) — only the learned agents live there. Also honest: moderate absolute rates — the oracle ceiling is far above; the claim is the relative advantage, not near-perfect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 OOD result matters scientifically — the last version of the skeptic's objection: 'RL only wins where the detector is blind.' If true, advantage should SHRINK as detector recall rises. Scatter: per-class RF recall (x) vs RL prevention advantage (y). The held-out classes span recall 0.20–0.998 by construction — near-blind to near-perfect. Result: NO detectable trend. Spearman rho 0.22 (p=0.54), Pearson r −0.02 (p=0.95), bootstrap OLS slope CI [−0.08, +0.04] spans zero. Honest caveat: n=10 — absence of a detectable trend, not proof of independence; but the trend the objection REQUIRES (negative) is absent. Mechanism (structural, not perceptual): prevention needs SUSTAINED proportionate pressure; RF — even when it classifies correctly — acts passively ~2/3 of steps, lets the attacker reach IMPACT, then blocks late: 'mitigated', never 'prevented'. A one-shot classifier structurally cannot express temporal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Owning the boundaries pre-empts half the committee's questions. (1) Session coherence + aliasing are modeling abstractions — the dataset has no session key; alpha is a controlled knob, and the contribution is the SHAPE of the response, anchored by the alpha=0 tie. (2) The advantage is conditional on partial observability — at alpha=0 we claim a tie, nothing more. (3) The attacker is designed, reactive, NOT co-trained; the crossover is conditional on this attacker class; evasive-persistence is the closest tested relaxation; self-play is future work. (4) RF-Acting is memoryless by construction — the benchmark isolates windowed vs memoryless CONTROL; a windowed supervised baseline is the most direct strengthening and is named follow-up work. (5) Single dataset — replication on Bot-IoT is the natural next step. (6) OOD study is a controlled feature-injection stress test at n=10 — not deployed zero-day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findings, one breath each. F1: windowed temporal control beats memoryless per-flow control PRECISELY under partial observability — tie at alpha=0, RF monotone collapse to net-harmful, PPO flat, disjoint CIs from alpha=0.4. F2: the advantage is not a reward artifact — best RL leads under both contracts (−63.1 / −63.0); shaping changes which algorithm wins. F3: on ten held-out classes, prevention advantage on every class, no detectable recall dependence — temporal control, not detector blind spots. Plus the operational bonus: benign-safe (&lt;1% FPR) and a 90 KB / 23K-param policy vs 181 MB tuned RF — edge-deployable. Closing line: the contribution is not 'RL wins' — it is a controlled account of WHEN and WHY it wins, reproducible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Grouped future work. Nearest to the thesis: windowed supervised baseline (the most direct strengthening); recurrent belief-state policies — a preliminary recurrent trial did NOT beat the window under this budget, worth characterizing; second dataset (Bot-IoT). Threat model: co-adaptive self-play attacker; multi-agent defense (RESTRAIN-style coordination). Deployment: edge hardware quantification (the 90 KB policy invites it); federated multi-site training; constrained-MDP false-positive guarantees. Dissemination: a condensed journal article of this work is submitted to Elsevier Internet of Things (2026). Code, manifests, and the full artifact chain are public on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committee by name; thank the audience. Then: 'I am at your disposal for questions.' Backup slides follow the thank-you slide: reward constants, hyperparameters, kill-chain mapping, detector performance, benign safety, reproducibility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— backup material for Q&amp;A. Not part of the timed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constant table from methodology Table 3.5. Calibration: terminal outcomes set the scale; per-step shaping an order of magnitude smaller; caps kill reward farming; guardrails make over-blocking on benign never profitable.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C. Notables: A2C n_steps=256 (vs default 5) — long rollouts for the sparse credit delay; DQN 200k replay buffer + slow target updates; same 2×64 MLP everywhere isolates the learning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B. Stars = the 10 reserved OOD classes, at least two per non-benign stage. Unknown labels raise a hard error — no silent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Fairness evidence: 54-cell grid search on validation macro-F1; interior optimum (200 trees, depth 20, balanced weights); validation F1 flat at 0.927±0.005 across tree count — not under-tuned. Balanced-test macro-F1 0.924; worst class 0.87 (recon/access ambiguity); impact 0.999. Only material confusion: RECON→ACCESS 13.2% — inherent overlap in the middle of the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availability axis. Benign FPR = fraction of true-benign flows hit with block/isolate. Learned agents: PPO 0.89%, A2C 0.66%, DQN 0.46% — all under the 1% operational threshold. Random 41.3%; always-block 100% (that is why its perfect prevention is inadmissible); always-observe 0% but loses every episode (~−350). Trivials bracket the trade-off; learned agents are the only policies strong AND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figure ships a manifest.json: SHA-256 of every input artifact + the producing git commit + the exact command. A harness re-walks the chain on a fresh checkout. Thesis numbers are macro-generated from canonical JSONs — never hand-typed. 462 tests. Clone → pytest → reproducibility_smoke → PASS, no retraining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0" cy="64008"/>
          </a:xfrm>
          <a:prstGeom prst="rect">
            <a:avLst/>
          </a:prstGeom>
          <a:solidFill>
            <a:srgbClr val="5F7D62"/>
          </a:solidFill>
          <a:ln/>
        </p:spPr>
      </p:sp>
      <p:sp>
        <p:nvSpPr>
          <p:cNvPr id="4" name="Shape 1"/>
          <p:cNvSpPr/>
          <p:nvPr/>
        </p:nvSpPr>
        <p:spPr>
          <a:xfrm>
            <a:off x="1828800" y="0"/>
            <a:ext cx="1828800" cy="64008"/>
          </a:xfrm>
          <a:prstGeom prst="rect">
            <a:avLst/>
          </a:prstGeom>
          <a:solidFill>
            <a:srgbClr val="B08A3E"/>
          </a:solidFill>
          <a:ln/>
        </p:spPr>
      </p:sp>
      <p:sp>
        <p:nvSpPr>
          <p:cNvPr id="5" name="Shape 2"/>
          <p:cNvSpPr/>
          <p:nvPr/>
        </p:nvSpPr>
        <p:spPr>
          <a:xfrm>
            <a:off x="3657600" y="0"/>
            <a:ext cx="1828800" cy="64008"/>
          </a:xfrm>
          <a:prstGeom prst="rect">
            <a:avLst/>
          </a:prstGeom>
          <a:solidFill>
            <a:srgbClr val="C0703C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0" y="0"/>
            <a:ext cx="1828800" cy="64008"/>
          </a:xfrm>
          <a:prstGeom prst="rect">
            <a:avLst/>
          </a:prstGeom>
          <a:solidFill>
            <a:srgbClr val="A94E38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0" y="0"/>
            <a:ext cx="1828800" cy="64008"/>
          </a:xfrm>
          <a:prstGeom prst="rect">
            <a:avLst/>
          </a:prstGeom>
          <a:solidFill>
            <a:srgbClr val="8C2B2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713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50" kern="0" dirty="0">
                <a:solidFill>
                  <a:srgbClr val="B0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MASTER'S DEFENSE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1060704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F1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Deep Reinforcement Learning Framework for Autonomous Cybersecurity Defense in IoT Networks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685800" y="27249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5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Arcabouço de Aprendizado por Reforço Profundo para Defesa Cibernética Autônoma em Redes IoT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3401568"/>
            <a:ext cx="3749040" cy="0"/>
          </a:xfrm>
          <a:prstGeom prst="line">
            <a:avLst/>
          </a:prstGeom>
          <a:noFill/>
          <a:ln w="12700">
            <a:solidFill>
              <a:srgbClr val="3A3A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3566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1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Felipe Augusto Oliveira dos Santos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5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Advisor: Prof. Dr. Denis Fantinato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5800" y="4261104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Examination Committee:  Prof. Dr. Denis Fantinato (UNICAMP)  ·  Prof. Dr. Alexandre da Silva Simões (UNESP)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Dr. João Kleinschmidt (UFABC)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5800" y="4700016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Electrical and Computer Engineering (FEEC)  ·  Campinas — August 31, 2026</a:t>
            </a:r>
            <a:endParaRPr lang="en-US" sz="950" dirty="0"/>
          </a:p>
        </p:txBody>
      </p:sp>
      <p:pic>
        <p:nvPicPr>
          <p:cNvPr id="15" name="Image 0" descr="assets/unicamp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768398"/>
            <a:ext cx="960120" cy="10128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the Speaker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298448"/>
            <a:ext cx="2148840" cy="2651760"/>
          </a:xfrm>
          <a:prstGeom prst="rect">
            <a:avLst/>
          </a:prstGeom>
          <a:solidFill>
            <a:srgbClr val="EFECE6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298448"/>
            <a:ext cx="2148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(replace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Slides)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0" y="1325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Felipe Augusto Oliveira dos Santos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017520" y="1828800"/>
            <a:ext cx="5577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M.Sc. candidate, Electrical Engineering (Computer Engineering area) — FEEC / UNICAMP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[TODO: B.Sc. degree, institution, year]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[TODO: current professional role / industry experience]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[TODO: research interests — e.g. reinforcement learning, cybersecurity, IoT]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line: adversarial reinforcement learning for autonomous IoT defense (advisor: Prof. Dr. Denis Fantinato)</a:t>
            </a:r>
            <a:endParaRPr lang="en-US" sz="1200" dirty="0"/>
          </a:p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article condensing this dissertation submitted to Elsevier Internet of Things (2026)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17520" y="45902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Placeholders marked [TODO] — fill in before presenting.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298448"/>
            <a:ext cx="8138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298448"/>
            <a:ext cx="59436" cy="566928"/>
          </a:xfrm>
          <a:prstGeom prst="rect">
            <a:avLst/>
          </a:prstGeom>
          <a:solidFill>
            <a:srgbClr val="5F7D62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34416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F7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234440" y="134416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  </a:t>
            </a:r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Why IoT defense outgrew static security — and the vocabulary we need (kill chain, RL, POMDP)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1956816"/>
            <a:ext cx="8138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956816"/>
            <a:ext cx="59436" cy="566928"/>
          </a:xfrm>
          <a:prstGeom prst="rect">
            <a:avLst/>
          </a:prstGeom>
          <a:solidFill>
            <a:srgbClr val="B08A3E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200253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08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234440" y="2002536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   </a:t>
            </a:r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When does learned sequential control beat per-flow classification?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2615184"/>
            <a:ext cx="8138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2615184"/>
            <a:ext cx="59436" cy="566928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266090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E5C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234440" y="266090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  </a:t>
            </a:r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Dataset projection, reactive attacker, partially observable environment, reward contracts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2920" y="3273552"/>
            <a:ext cx="8138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3273552"/>
            <a:ext cx="59436" cy="566928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" y="33192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E2B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1234440" y="3319272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  </a:t>
            </a:r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The aliasing crossover · reward ablation · robustness · zero-day-like classes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2920" y="3931920"/>
            <a:ext cx="8138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3931920"/>
            <a:ext cx="59436" cy="566928"/>
          </a:xfrm>
          <a:prstGeom prst="rect">
            <a:avLst/>
          </a:prstGeom>
          <a:solidFill>
            <a:srgbClr val="2A2A2E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" y="39776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1234440" y="397764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  </a:t>
            </a:r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Findings, limitations,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CONTEXT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IoT Turned Every Network Into an Attack Surface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02920" y="1298448"/>
            <a:ext cx="25603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E5C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19.8B → 40.6B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02920" y="173126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devices worldwide, 2025 → 2034 (forecast)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91840" y="1298448"/>
            <a:ext cx="23774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E2B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12.2T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291840" y="173126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annual cybercrime damages by 2031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0" y="1298448"/>
            <a:ext cx="2743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 attacks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943600" y="17312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types executed device-to-device in CICIoT2023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2395728"/>
            <a:ext cx="8138160" cy="0"/>
          </a:xfrm>
          <a:prstGeom prst="line">
            <a:avLst/>
          </a:prstGeom>
          <a:noFill/>
          <a:ln w="12700">
            <a:solidFill>
              <a:srgbClr val="DDD8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542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security fails here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2907792"/>
            <a:ext cx="261518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2907792"/>
            <a:ext cx="2615184" cy="5486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0540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devices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0080" y="3364992"/>
            <a:ext cx="23408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compute, memory, or energy budget for on-device security agents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64408" y="2907792"/>
            <a:ext cx="261518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64408" y="2907792"/>
            <a:ext cx="2615184" cy="5486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1" name="Text 18"/>
          <p:cNvSpPr/>
          <p:nvPr/>
        </p:nvSpPr>
        <p:spPr>
          <a:xfrm>
            <a:off x="3401568" y="30540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heterogeneity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401568" y="3364992"/>
            <a:ext cx="23408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Disparate protocols and OSes — uniform policy enforcement is impractical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025896" y="2907792"/>
            <a:ext cx="261518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25896" y="2907792"/>
            <a:ext cx="2615184" cy="5486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5" name="Text 22"/>
          <p:cNvSpPr/>
          <p:nvPr/>
        </p:nvSpPr>
        <p:spPr>
          <a:xfrm>
            <a:off x="6163056" y="30540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defenses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163056" y="3364992"/>
            <a:ext cx="23408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IDS misses zero-days; anomaly IDS floods operators with false positives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02920" y="44439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 The gap: </a:t>
            </a:r>
            <a:pPr indent="0" marL="0">
              <a:buNone/>
            </a:pPr>
            <a:r>
              <a:rPr lang="en-US" sz="12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 that adapt, learn from data, and act autonomously — the promise of Deep RL.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CONTEXT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Cyber Kill Chain: a Decision Frame for Defense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intrusion is a campaign in stages — and each stage has a proportionate response.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1600200"/>
            <a:ext cx="1495958" cy="457200"/>
          </a:xfrm>
          <a:prstGeom prst="roundRect">
            <a:avLst>
              <a:gd name="adj" fmla="val 10000"/>
            </a:avLst>
          </a:prstGeom>
          <a:solidFill>
            <a:srgbClr val="5F7D62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600200"/>
            <a:ext cx="1495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85162" y="1709928"/>
            <a:ext cx="192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63470" y="1600200"/>
            <a:ext cx="1495958" cy="457200"/>
          </a:xfrm>
          <a:prstGeom prst="roundRect">
            <a:avLst>
              <a:gd name="adj" fmla="val 10000"/>
            </a:avLst>
          </a:prstGeom>
          <a:solidFill>
            <a:srgbClr val="B08A3E"/>
          </a:solidFill>
          <a:ln/>
        </p:spPr>
      </p:sp>
      <p:sp>
        <p:nvSpPr>
          <p:cNvPr id="12" name="Text 9"/>
          <p:cNvSpPr/>
          <p:nvPr/>
        </p:nvSpPr>
        <p:spPr>
          <a:xfrm>
            <a:off x="2163470" y="1600200"/>
            <a:ext cx="1495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45713" y="1709928"/>
            <a:ext cx="192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824021" y="1600200"/>
            <a:ext cx="1495958" cy="457200"/>
          </a:xfrm>
          <a:prstGeom prst="roundRect">
            <a:avLst>
              <a:gd name="adj" fmla="val 10000"/>
            </a:avLst>
          </a:prstGeom>
          <a:solidFill>
            <a:srgbClr val="C0703C"/>
          </a:solidFill>
          <a:ln/>
        </p:spPr>
      </p:sp>
      <p:sp>
        <p:nvSpPr>
          <p:cNvPr id="15" name="Text 12"/>
          <p:cNvSpPr/>
          <p:nvPr/>
        </p:nvSpPr>
        <p:spPr>
          <a:xfrm>
            <a:off x="3824021" y="1600200"/>
            <a:ext cx="1495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6263" y="1709928"/>
            <a:ext cx="192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4571" y="1600200"/>
            <a:ext cx="1495958" cy="457200"/>
          </a:xfrm>
          <a:prstGeom prst="roundRect">
            <a:avLst>
              <a:gd name="adj" fmla="val 10000"/>
            </a:avLst>
          </a:prstGeom>
          <a:solidFill>
            <a:srgbClr val="A94E38"/>
          </a:solidFill>
          <a:ln/>
        </p:spPr>
      </p:sp>
      <p:sp>
        <p:nvSpPr>
          <p:cNvPr id="18" name="Text 15"/>
          <p:cNvSpPr/>
          <p:nvPr/>
        </p:nvSpPr>
        <p:spPr>
          <a:xfrm>
            <a:off x="5484571" y="1600200"/>
            <a:ext cx="1495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MANEUVER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966814" y="1709928"/>
            <a:ext cx="192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45122" y="1600200"/>
            <a:ext cx="1495958" cy="457200"/>
          </a:xfrm>
          <a:prstGeom prst="roundRect">
            <a:avLst>
              <a:gd name="adj" fmla="val 10000"/>
            </a:avLst>
          </a:prstGeom>
          <a:solidFill>
            <a:srgbClr val="8C2B24"/>
          </a:solidFill>
          <a:ln/>
        </p:spPr>
      </p:sp>
      <p:sp>
        <p:nvSpPr>
          <p:cNvPr id="21" name="Text 18"/>
          <p:cNvSpPr/>
          <p:nvPr/>
        </p:nvSpPr>
        <p:spPr>
          <a:xfrm>
            <a:off x="7145122" y="1600200"/>
            <a:ext cx="1495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" y="2121408"/>
            <a:ext cx="14959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traffic. Business as usual.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163470" y="2121408"/>
            <a:ext cx="14959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Scanning, fingerprinting, enumeration.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824021" y="2121408"/>
            <a:ext cx="14959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Foothold: brute force, injection, hijack.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484571" y="2121408"/>
            <a:ext cx="14959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movement, botnet staging.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145122" y="2121408"/>
            <a:ext cx="14959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DDoS, exfiltration, detonation.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02920" y="290779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Defender's five-action menu (recommended-action mapping):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02920" y="3218688"/>
            <a:ext cx="149595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875">
            <a:solidFill>
              <a:srgbClr val="3E5C7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3218688"/>
            <a:ext cx="14959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02920" y="3657600"/>
            <a:ext cx="14959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only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163470" y="3218688"/>
            <a:ext cx="149595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875">
            <a:solidFill>
              <a:srgbClr val="3E5C7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63470" y="3218688"/>
            <a:ext cx="14959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2163470" y="3657600"/>
            <a:ext cx="14959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&amp; watch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824021" y="3218688"/>
            <a:ext cx="149595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875">
            <a:solidFill>
              <a:srgbClr val="3E5C7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824021" y="3218688"/>
            <a:ext cx="14959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3824021" y="3657600"/>
            <a:ext cx="14959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throttle traffic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484571" y="3218688"/>
            <a:ext cx="149595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875">
            <a:solidFill>
              <a:srgbClr val="3E5C7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84571" y="3218688"/>
            <a:ext cx="14959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484571" y="3657600"/>
            <a:ext cx="14959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flows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145122" y="3218688"/>
            <a:ext cx="149595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875">
            <a:solidFill>
              <a:srgbClr val="3E5C7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45122" y="3218688"/>
            <a:ext cx="14959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7145122" y="3657600"/>
            <a:ext cx="14959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 segment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02920" y="4224528"/>
            <a:ext cx="8138160" cy="0"/>
          </a:xfrm>
          <a:prstGeom prst="line">
            <a:avLst/>
          </a:prstGeom>
          <a:noFill/>
          <a:ln w="15875">
            <a:solidFill>
              <a:srgbClr val="76767E"/>
            </a:solidFill>
            <a:prstDash val="solid"/>
            <a:tailEnd type="triangle"/>
          </a:ln>
        </p:spPr>
      </p:sp>
      <p:sp>
        <p:nvSpPr>
          <p:cNvPr id="44" name="Text 41"/>
          <p:cNvSpPr/>
          <p:nvPr/>
        </p:nvSpPr>
        <p:spPr>
          <a:xfrm>
            <a:off x="502920" y="43342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interruption grows monotonically →   ·   over-forcing early = availability damage   ·   under-forcing late = compromise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CONTEXT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Learning in One Slide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20624" y="1307592"/>
            <a:ext cx="4370832" cy="2503313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8" name="Image 0" descr="assets/rl_agent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89888"/>
            <a:ext cx="4206240" cy="23387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3977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 policy π(a | s) that maximizes expected cumulative reward — by trial and error, not labels.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029200" y="1307592"/>
            <a:ext cx="36118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29200" y="1307592"/>
            <a:ext cx="59436" cy="841248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2" name="Text 8"/>
          <p:cNvSpPr/>
          <p:nvPr/>
        </p:nvSpPr>
        <p:spPr>
          <a:xfrm>
            <a:off x="5193792" y="13807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  </a:t>
            </a:r>
            <a:pPr indent="0" marL="0">
              <a:buNone/>
            </a:pPr>
            <a:r>
              <a:rPr lang="en-US" sz="950" i="1" dirty="0">
                <a:solidFill>
                  <a:srgbClr val="9E2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off-policy · value-based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193792" y="165506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Q-values; replays past experience from a buffer. Sample-efficient — but bootstrap can wobble.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0" y="2258568"/>
            <a:ext cx="36118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0" y="2258568"/>
            <a:ext cx="59436" cy="841248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6" name="Text 12"/>
          <p:cNvSpPr/>
          <p:nvPr/>
        </p:nvSpPr>
        <p:spPr>
          <a:xfrm>
            <a:off x="5193792" y="2331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 </a:t>
            </a:r>
            <a:pPr indent="0" marL="0">
              <a:buNone/>
            </a:pPr>
            <a:r>
              <a:rPr lang="en-US" sz="950" i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on-policy · actor-critic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193792" y="26060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fresh rollouts with clipped, conservative policy updates. The de-facto stability standard.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029200" y="3209544"/>
            <a:ext cx="36118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0" y="3209544"/>
            <a:ext cx="59436" cy="841248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20" name="Text 16"/>
          <p:cNvSpPr/>
          <p:nvPr/>
        </p:nvSpPr>
        <p:spPr>
          <a:xfrm>
            <a:off x="5193792" y="32826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  </a:t>
            </a:r>
            <a:pPr indent="0" marL="0">
              <a:buNone/>
            </a:pPr>
            <a:r>
              <a:rPr lang="en-US" sz="950" i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on-policy · actor-critic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193792" y="355701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Synchronous advantage actor-critic — simpler, faster updates from parallel workers.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029200" y="4315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MLP policy network (2×64 units), same budget, same seeds — the comparison isolates the learning rule.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CONTEXT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Perception Gap: From MDP to POMDP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417320"/>
            <a:ext cx="3886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observability (MDP)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</a:t>
            </a:r>
            <a:pPr indent="0" marL="0">
              <a:buNone/>
            </a:pPr>
            <a:r>
              <a:rPr lang="en-US" sz="1150" b="1" dirty="0">
                <a:solidFill>
                  <a:srgbClr val="5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sₜ</a:t>
            </a:r>
            <a:pPr indent="0" marL="0">
              <a:buNone/>
            </a:pPr>
            <a:r>
              <a:rPr lang="en-US" sz="11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visible → react to what you </a:t>
            </a:r>
            <a:pPr indent="0" marL="0">
              <a:buNone/>
            </a:pPr>
            <a:r>
              <a:rPr lang="en-US" sz="1150" i="1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5800" y="21579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memoryless rule per state can be optimal — classification is enough.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3886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417320"/>
            <a:ext cx="59436" cy="1371600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observability (POMDP) — this work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93776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</a:t>
            </a:r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sₜ</a:t>
            </a:r>
            <a:pPr indent="0" marL="0">
              <a:buNone/>
            </a:pPr>
            <a:r>
              <a:rPr lang="en-US" sz="11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hidden → only feature rows </a:t>
            </a:r>
            <a:pPr indent="0" marL="0">
              <a:buNone/>
            </a:pPr>
            <a:r>
              <a:rPr lang="en-US" sz="11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oₜ ∼ Z(· | sₜ)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937760" y="21579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stages emit overlapping observations — no single row identifies the stage.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" y="290779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way through: accumulate evidence over time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3246120"/>
            <a:ext cx="17830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3375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oₜ₋₄ … oₜ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7784" y="3675888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of recent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 (w = 5)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340864" y="3721608"/>
            <a:ext cx="225552" cy="0"/>
          </a:xfrm>
          <a:prstGeom prst="line">
            <a:avLst/>
          </a:prstGeom>
          <a:noFill/>
          <a:ln w="22225">
            <a:solidFill>
              <a:srgbClr val="55555C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621280" y="3246120"/>
            <a:ext cx="17830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21280" y="33375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belief bₜ(s)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676144" y="3675888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posterior over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stages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459224" y="3721608"/>
            <a:ext cx="225552" cy="0"/>
          </a:xfrm>
          <a:prstGeom prst="line">
            <a:avLst/>
          </a:prstGeom>
          <a:noFill/>
          <a:ln w="22225">
            <a:solidFill>
              <a:srgbClr val="55555C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4739640" y="3246120"/>
            <a:ext cx="17830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39640" y="33375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π(a | history)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794504" y="3675888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conditioned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window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577584" y="3721608"/>
            <a:ext cx="225552" cy="0"/>
          </a:xfrm>
          <a:prstGeom prst="line">
            <a:avLst/>
          </a:prstGeom>
          <a:noFill/>
          <a:ln w="22225">
            <a:solidFill>
              <a:srgbClr val="55555C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858000" y="3246120"/>
            <a:ext cx="1783080" cy="960120"/>
          </a:xfrm>
          <a:prstGeom prst="rect">
            <a:avLst/>
          </a:prstGeom>
          <a:solidFill>
            <a:srgbClr val="3E5C76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0" y="33375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aₜ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912864" y="3675888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defensive action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one snapshot cannot diagnose, memory becomes the defense. This is where sequential control earns its keep.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RESEARCH QUESTION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1078992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F1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does a learned sequential policy</a:t>
            </a:r>
            <a:endParaRPr lang="en-US" sz="2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F1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genuinely beat a memoryless</a:t>
            </a:r>
            <a:endParaRPr lang="en-US" sz="2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F1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per-flow classifier?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85800" y="2743200"/>
            <a:ext cx="7772400" cy="960120"/>
          </a:xfrm>
          <a:prstGeom prst="rect">
            <a:avLst/>
          </a:prstGeom>
          <a:solidFill>
            <a:srgbClr val="2E2E33"/>
          </a:solidFill>
          <a:ln w="12700">
            <a:solidFill>
              <a:srgbClr val="3A3A4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2743200"/>
            <a:ext cx="64008" cy="960120"/>
          </a:xfrm>
          <a:prstGeom prst="rect">
            <a:avLst/>
          </a:prstGeom>
          <a:solidFill>
            <a:srgbClr val="C05048"/>
          </a:solidFill>
          <a:ln/>
        </p:spPr>
      </p:sp>
      <p:sp>
        <p:nvSpPr>
          <p:cNvPr id="7" name="Text 4"/>
          <p:cNvSpPr/>
          <p:nvPr/>
        </p:nvSpPr>
        <p:spPr>
          <a:xfrm>
            <a:off x="932688" y="285292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skeptic's objection this thesis answers:  </a:t>
            </a:r>
            <a:pPr indent="0" marL="0">
              <a:buNone/>
            </a:pPr>
            <a:r>
              <a:rPr lang="en-US" sz="1250" i="1" dirty="0">
                <a:solidFill>
                  <a:srgbClr val="F1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each flow reveals the attack stage, your RL agent is just an expensive classifier — a supervised model should match it.”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4069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strategy: </a:t>
            </a:r>
            <a:pPr indent="0" marL="0">
              <a:buNone/>
            </a:pPr>
            <a:r>
              <a:rPr lang="en-US" sz="1300" dirty="0">
                <a:solidFill>
                  <a:srgbClr val="A5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stage ambiguity a controlled dial (aliasing rate α), keep everything else fixed, and measure where classification stops being enough.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RESEARCH QUESTION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Contributions — the Map of This Talk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261872"/>
            <a:ext cx="81381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261872"/>
            <a:ext cx="59436" cy="585216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307592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5C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43000" y="1298448"/>
            <a:ext cx="7360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genuinely partially observable kill-chain environment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escalation attacker + real CICIoT2023 features + controllable aliasing α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1938528"/>
            <a:ext cx="81381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938528"/>
            <a:ext cx="59436" cy="585216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1984248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B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143000" y="1975104"/>
            <a:ext cx="7360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crossover: windowed RL vs per-flow control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 at α = 0 by design; disjoint CIs from α = 0.4 onward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2615184"/>
            <a:ext cx="81381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2615184"/>
            <a:ext cx="59436" cy="585216"/>
          </a:xfrm>
          <a:prstGeom prst="rect">
            <a:avLst/>
          </a:prstGeom>
          <a:solidFill>
            <a:srgbClr val="B08A3E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2660904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8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143000" y="2651760"/>
            <a:ext cx="7360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reward ablation that answers the privileged-reward objection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learned agent beats RF-Acting under both reward contracts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02920" y="3291840"/>
            <a:ext cx="81381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3291840"/>
            <a:ext cx="59436" cy="585216"/>
          </a:xfrm>
          <a:prstGeom prst="rect">
            <a:avLst/>
          </a:prstGeom>
          <a:solidFill>
            <a:srgbClr val="5F7D62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" y="3337560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7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143000" y="3328416"/>
            <a:ext cx="7360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held-out attack-class prevention advantage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prevention on all 10 unseen classes — no dependence on detector recall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3968496"/>
            <a:ext cx="81381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3968496"/>
            <a:ext cx="59436" cy="585216"/>
          </a:xfrm>
          <a:prstGeom prst="rect">
            <a:avLst/>
          </a:prstGeom>
          <a:solidFill>
            <a:srgbClr val="2A2A2E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" y="4014216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143000" y="4005072"/>
            <a:ext cx="7360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reliability + reproducibility by construction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On-policy stability finding · hash-pinned manifests · 462 tests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FRAMEWORK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at a Glance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028890" y="1106424"/>
            <a:ext cx="38858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8" name="Image 0" descr="assets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186" y="1188720"/>
            <a:ext cx="3721228" cy="34015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06440" y="146304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Offline: kill-chain projection · closed-form attacker · supervised stage detector</a:t>
            </a:r>
            <a:endParaRPr lang="en-US" sz="11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Online: attacker → realization engine → windowed obs → defender → escalation kernel</a:t>
            </a:r>
            <a:endParaRPr lang="en-US" sz="1100" dirty="0"/>
          </a:p>
          <a:p>
            <a:pPr marL="177800" indent="-177800">
              <a:buSzPct val="100000"/>
              <a:buChar char="▪"/>
            </a:pPr>
            <a:r>
              <a:rPr lang="en-US" sz="11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held-out benchmark vs baselines + oracle, then ablations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806440" y="3520440"/>
            <a:ext cx="28346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806440" y="3520440"/>
            <a:ext cx="59436" cy="1051560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2" name="Text 8"/>
          <p:cNvSpPr/>
          <p:nvPr/>
        </p:nvSpPr>
        <p:spPr>
          <a:xfrm>
            <a:off x="5989320" y="363931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loop, not trace replay.  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defender action changes the attacker's next move — evaluation included.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FRAMEWORK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Traffic: the CICIoT2023 Dataset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83464" y="1245863"/>
            <a:ext cx="5056632" cy="3497595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8" name="Image 0" descr="assets/feature_selection_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8159"/>
            <a:ext cx="4892040" cy="33330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23560" y="1298448"/>
            <a:ext cx="30175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5C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 devices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5623560" y="16855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IoT testbed — cameras, sensors, speakers, hubs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623560" y="2212848"/>
            <a:ext cx="30175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9E2B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 attack types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5623560" y="25999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categories: DDoS, DoS, Recon, Web, Brute force, Spoofing, Mirai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623560" y="3127248"/>
            <a:ext cx="30175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 → 29 features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5623560" y="35143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leakage-safe selection, fit on the training partition only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623560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235,324 training rows after reserving held-out classes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FRAMEWORK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34 Labels to 5 Stages, 10 Held Out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67453" y="1124712"/>
            <a:ext cx="8209095" cy="2313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8" name="Image 0" descr="assets/projection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749" y="1207008"/>
            <a:ext cx="8044503" cy="21488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" y="3611880"/>
            <a:ext cx="3931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02920" y="3611880"/>
            <a:ext cx="59436" cy="1097280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373075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projection ψ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labels → 5 stages; each stage becomes an empirical feature distribution p(x | s) of real rows.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09160" y="3611880"/>
            <a:ext cx="3931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09160" y="3611880"/>
            <a:ext cx="59436" cy="1097280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4" name="Text 10"/>
          <p:cNvSpPr/>
          <p:nvPr/>
        </p:nvSpPr>
        <p:spPr>
          <a:xfrm>
            <a:off x="4892040" y="373075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classes reserved, never trained on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 per non-benign stage (e.g. VulnerabilityScan, SqlInjection, DNS_Spoofing, DoS-SYN_Flood) — the zero-day probe.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FRAMEWORK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Adjacent Stages Genuinely Overlap in Feature Space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52084" y="1152144"/>
            <a:ext cx="4736511" cy="35478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8" name="Image 0" descr="assets/dataset_raw_traffic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80" y="1234440"/>
            <a:ext cx="4571919" cy="3383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16002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2-D PCA of the 29 features, colored by kill-chain stage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floods separate; BENIGN · RECON · ACCESS interleave heavily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flow row reveals the stage — ambiguity is a property of the data</a:t>
            </a:r>
            <a:endParaRPr lang="en-US" sz="1150" dirty="0"/>
          </a:p>
          <a:p>
            <a:pPr marL="177800" indent="-177800">
              <a:buSzPct val="100000"/>
              <a:buChar char="▪"/>
            </a:pPr>
            <a:r>
              <a:rPr lang="en-US" sz="115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aliasing rate α turns this real overlap into a controlled experimental dial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40680" y="4069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coherence is imposed at the environment layer (no session key in the dataset) — declared as a modeling abstraction.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FRAMEWORK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Reactive Attacker: the Escalation Tug-of-War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298448"/>
            <a:ext cx="2624328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298448"/>
            <a:ext cx="2624328" cy="54864"/>
          </a:xfrm>
          <a:prstGeom prst="rect">
            <a:avLst/>
          </a:prstGeom>
          <a:solidFill>
            <a:srgbClr val="5F7D62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444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Proportionate  </a:t>
            </a:r>
            <a:pPr indent="0" marL="0">
              <a:buNone/>
            </a:pPr>
            <a:r>
              <a:rPr lang="en-US" sz="1100" b="1" dirty="0">
                <a:solidFill>
                  <a:srgbClr val="5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17190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push-back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19933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pushed back one stage with p = 0.90 (ISOLATE: 0.98)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64408" y="1298448"/>
            <a:ext cx="2624328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64408" y="1298448"/>
            <a:ext cx="2624328" cy="5486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4" name="Text 11"/>
          <p:cNvSpPr/>
          <p:nvPr/>
        </p:nvSpPr>
        <p:spPr>
          <a:xfrm>
            <a:off x="3401568" y="1444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Under-force  </a:t>
            </a:r>
            <a:pPr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≤ −1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01568" y="17190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escalate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401568" y="19933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advances with p_up scaled by proximity to IMPACT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25896" y="1298448"/>
            <a:ext cx="2624328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25896" y="1298448"/>
            <a:ext cx="2624328" cy="54864"/>
          </a:xfrm>
          <a:prstGeom prst="rect">
            <a:avLst/>
          </a:prstGeom>
          <a:solidFill>
            <a:srgbClr val="B08A3E"/>
          </a:solidFill>
          <a:ln/>
        </p:spPr>
      </p:sp>
      <p:sp>
        <p:nvSpPr>
          <p:cNvPr id="19" name="Text 16"/>
          <p:cNvSpPr/>
          <p:nvPr/>
        </p:nvSpPr>
        <p:spPr>
          <a:xfrm>
            <a:off x="6163056" y="1444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Over-force  </a:t>
            </a:r>
            <a:pPr indent="0" marL="0">
              <a:buNone/>
            </a:pPr>
            <a:r>
              <a:rPr lang="en-US" sz="1100" b="1" dirty="0">
                <a:solidFill>
                  <a:srgbClr val="B0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≥ +1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63056" y="17190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hold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163056" y="19933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merely holds — and availability cost is still paid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2920" y="29260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=  chosen action  −  recommended action for the true stage      (the defender never sees that stage — it must infer it)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02920" y="3310128"/>
            <a:ext cx="3931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3310128"/>
            <a:ext cx="59436" cy="1234440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" y="3419856"/>
            <a:ext cx="3611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Proximity-coupled escalation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prob. scales with proximity λ = s/4 (floor 0.4) — the deeper the foothold, the harder it pushes. No fixed intrusion budget.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09160" y="3310128"/>
            <a:ext cx="3931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09160" y="3310128"/>
            <a:ext cx="59436" cy="1234440"/>
          </a:xfrm>
          <a:prstGeom prst="rect">
            <a:avLst/>
          </a:prstGeom>
          <a:solidFill>
            <a:srgbClr val="5F7D62"/>
          </a:solidFill>
          <a:ln/>
        </p:spPr>
      </p:sp>
      <p:sp>
        <p:nvSpPr>
          <p:cNvPr id="28" name="Text 25"/>
          <p:cNvSpPr/>
          <p:nvPr/>
        </p:nvSpPr>
        <p:spPr>
          <a:xfrm>
            <a:off x="4892040" y="3419856"/>
            <a:ext cx="3611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 is the goal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the attacker below IMPACT for all 100 steps → episode prevented (+50). One good block is not enough — sustained pressure is.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FRAMEWORK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α Dial: Aliasing and the Windowed Observer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68867" y="1179576"/>
            <a:ext cx="7806266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8" name="Image 0" descr="assets/state_machine_alia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163" y="1261872"/>
            <a:ext cx="7641674" cy="1600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346820" y="3163824"/>
            <a:ext cx="21526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10" name="Image 1" descr="assets/obs_tensor_schemat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116" y="3246120"/>
            <a:ext cx="1988088" cy="13898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00600" y="3310128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(1−α)·own-stage  +  α·adjacent-stage rows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0: rows informative · α = 1: every row misleads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= last w = 5 rows + temporal deltas → 290-dim</a:t>
            </a:r>
            <a:endParaRPr lang="en-US" sz="1050" dirty="0"/>
          </a:p>
          <a:p>
            <a:pPr marL="177800" indent="-177800">
              <a:buSzPct val="100000"/>
              <a:buChar char="▪"/>
            </a:pPr>
            <a:r>
              <a:rPr lang="en-US" sz="105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aliased stream for every policy — no one is privileged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FRAMEWORK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Reward Contracts: Sparse Is Primary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39776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325880"/>
            <a:ext cx="59436" cy="2377440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1463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 ·  primary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13232" y="1810512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Sparse: action cost + terminal accounting only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Prevented episode → +50 · terminal defense → +250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 → −200 (−150 more if passive at impact)</a:t>
            </a:r>
            <a:endParaRPr lang="en-US" sz="1050" dirty="0"/>
          </a:p>
          <a:p>
            <a:pPr marL="177800" indent="-177800">
              <a:buSzPct val="100000"/>
              <a:buChar char="▪"/>
            </a:pPr>
            <a:r>
              <a:rPr lang="en-US" sz="105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per-step stage hints — measures defense, not imitation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325880"/>
            <a:ext cx="39776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325880"/>
            <a:ext cx="59436" cy="2377440"/>
          </a:xfrm>
          <a:prstGeom prst="rect">
            <a:avLst/>
          </a:prstGeom>
          <a:solidFill>
            <a:srgbClr val="B08A3E"/>
          </a:solidFill>
          <a:ln/>
        </p:spPr>
      </p:sp>
      <p:sp>
        <p:nvSpPr>
          <p:cNvPr id="13" name="Text 10"/>
          <p:cNvSpPr/>
          <p:nvPr/>
        </p:nvSpPr>
        <p:spPr>
          <a:xfrm>
            <a:off x="4919472" y="1463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COUPLED  ·  ablation only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919472" y="1810512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per-step shaping keyed to the true stage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proportionality bonus · −5 disproportion penalty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 guardrails: overreact −50 · block-on-benign −100</a:t>
            </a:r>
            <a:endParaRPr lang="en-US" sz="1050" dirty="0"/>
          </a:p>
          <a:p>
            <a:pPr marL="177800" indent="-177800">
              <a:buSzPct val="100000"/>
              <a:buChar char="▪"/>
            </a:pPr>
            <a:r>
              <a:rPr lang="en-US" sz="105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exactly what a classifier predicts — a privileged signal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3931920"/>
            <a:ext cx="8183880" cy="777240"/>
          </a:xfrm>
          <a:prstGeom prst="rect">
            <a:avLst/>
          </a:prstGeom>
          <a:solidFill>
            <a:srgbClr val="EFECE6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04164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principle:  </a:t>
            </a:r>
            <a:pPr indent="0" marL="0">
              <a:buNone/>
            </a:pPr>
            <a:r>
              <a:rPr lang="en-US" sz="11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reward hands the agent the stage label, a classifier wins by construction. Train under the sparse contract; keep the shaped one only to test that objection.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FRAMEWORK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Contenders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639708" y="1124712"/>
            <a:ext cx="3864583" cy="1856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8" name="Image 0" descr="assets/stage_detector_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2004" y="1207008"/>
            <a:ext cx="3699991" cy="1691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" y="3063240"/>
            <a:ext cx="8138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02920" y="3063240"/>
            <a:ext cx="59436" cy="347472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1" name="Text 7"/>
          <p:cNvSpPr/>
          <p:nvPr/>
        </p:nvSpPr>
        <p:spPr>
          <a:xfrm>
            <a:off x="713232" y="306324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Windowed RL (ours)   </a:t>
            </a:r>
            <a:pPr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· A2C · DQN read the 290-dim window; infer the stage implicitly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3483864"/>
            <a:ext cx="8138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483864"/>
            <a:ext cx="59436" cy="34747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4" name="Text 10"/>
          <p:cNvSpPr/>
          <p:nvPr/>
        </p:nvSpPr>
        <p:spPr>
          <a:xfrm>
            <a:off x="713232" y="3483864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RF-Acting (deployable)   </a:t>
            </a:r>
            <a:pPr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RandomForest (macro-F1 0.924) + recommended-action rule — memoryless per-flow control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3904488"/>
            <a:ext cx="8138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02920" y="3904488"/>
            <a:ext cx="59436" cy="347472"/>
          </a:xfrm>
          <a:prstGeom prst="rect">
            <a:avLst/>
          </a:prstGeom>
          <a:solidFill>
            <a:srgbClr val="76767E"/>
          </a:solidFill>
          <a:ln/>
        </p:spPr>
      </p:sp>
      <p:sp>
        <p:nvSpPr>
          <p:cNvPr id="17" name="Text 13"/>
          <p:cNvSpPr/>
          <p:nvPr/>
        </p:nvSpPr>
        <p:spPr>
          <a:xfrm>
            <a:off x="713232" y="390448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Trivials   </a:t>
            </a:r>
            <a:pPr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always-OBSERVE · always-BLOCK · random — bracket the reward scale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2920" y="4325112"/>
            <a:ext cx="8138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" y="4325112"/>
            <a:ext cx="59436" cy="347472"/>
          </a:xfrm>
          <a:prstGeom prst="rect">
            <a:avLst/>
          </a:prstGeom>
          <a:solidFill>
            <a:srgbClr val="B08A3E"/>
          </a:solidFill>
          <a:ln/>
        </p:spPr>
      </p:sp>
      <p:sp>
        <p:nvSpPr>
          <p:cNvPr id="20" name="Text 16"/>
          <p:cNvSpPr/>
          <p:nvPr/>
        </p:nvSpPr>
        <p:spPr>
          <a:xfrm>
            <a:off x="713232" y="432511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(instrument)   </a:t>
            </a:r>
            <a:pPr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true stage → prices perfect perception at +194.8 — a ceiling, not a competitor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FRAMEWORK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Protocol: Built to Be Believed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39776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371600"/>
            <a:ext cx="3977640" cy="54864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5179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E5C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× 5M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85800" y="193852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seeds × training steps per algorithm — no early stopping, best-on-validation checkpoint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39776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371600"/>
            <a:ext cx="3977640" cy="54864"/>
          </a:xfrm>
          <a:prstGeom prst="rect">
            <a:avLst/>
          </a:prstGeom>
          <a:solidFill>
            <a:srgbClr val="2A2A2E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15179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= 300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846320" y="193852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episodes per policy · 95% bootstrap CIs · separation = disjoint intervals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724912"/>
            <a:ext cx="39776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2724912"/>
            <a:ext cx="3977640" cy="54864"/>
          </a:xfrm>
          <a:prstGeom prst="rect">
            <a:avLst/>
          </a:prstGeom>
          <a:solidFill>
            <a:srgbClr val="5F7D62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28712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5F7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CPU-only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85800" y="329184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workstation — no GPU anywhere in the pipeline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2724912"/>
            <a:ext cx="39776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63440" y="2724912"/>
            <a:ext cx="3977640" cy="54864"/>
          </a:xfrm>
          <a:prstGeom prst="rect">
            <a:avLst/>
          </a:prstGeom>
          <a:solidFill>
            <a:srgbClr val="B08A3E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28712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08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462 tests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4846320" y="329184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hash-pinned manifests per figure · end-to-end re-verification on a fresh checkout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02920" y="4160520"/>
            <a:ext cx="8183880" cy="548640"/>
          </a:xfrm>
          <a:prstGeom prst="rect">
            <a:avLst/>
          </a:prstGeom>
          <a:solidFill>
            <a:srgbClr val="EFECE6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23367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aliased observation stream, same splits, same reward for every contender — </a:t>
            </a:r>
            <a:pPr indent="0" marL="0">
              <a:buNone/>
            </a:pPr>
            <a:r>
              <a:rPr lang="en-US" sz="11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variable is the controller.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Sparse-Reward Training: a Reliability Story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83464" y="1216152"/>
            <a:ext cx="5422392" cy="3394434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8" name="Image 0" descr="assets/F3_lear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98448"/>
            <a:ext cx="5257800" cy="3229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89320" y="124358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checkpoint at α = 0.4 (10 seeds)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989320" y="1536192"/>
            <a:ext cx="26974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989320" y="1536192"/>
            <a:ext cx="59436" cy="804672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2" name="Text 8"/>
          <p:cNvSpPr/>
          <p:nvPr/>
        </p:nvSpPr>
        <p:spPr>
          <a:xfrm>
            <a:off x="6153912" y="16093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  </a:t>
            </a:r>
            <a:pPr indent="0" marL="0">
              <a:buNone/>
            </a:pPr>
            <a:r>
              <a:rPr lang="en-US" sz="130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+138.7  </a:t>
            </a:r>
            <a:pPr indent="0" marL="0">
              <a:buNone/>
            </a:pPr>
            <a:r>
              <a:rPr lang="en-US" sz="10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~9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153912" y="1920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tightest seeds — most reliable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989320" y="2450592"/>
            <a:ext cx="26974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89320" y="2450592"/>
            <a:ext cx="59436" cy="804672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6" name="Text 12"/>
          <p:cNvSpPr/>
          <p:nvPr/>
        </p:nvSpPr>
        <p:spPr>
          <a:xfrm>
            <a:off x="6153912" y="25237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 </a:t>
            </a:r>
            <a:pPr indent="0" marL="0">
              <a:buNone/>
            </a:pPr>
            <a:r>
              <a:rPr lang="en-US" sz="130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+121.3  </a:t>
            </a:r>
            <a:pPr indent="0" marL="0">
              <a:buNone/>
            </a:pPr>
            <a:r>
              <a:rPr lang="en-US" sz="10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~15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153912" y="2834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plateau, close second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989320" y="3364992"/>
            <a:ext cx="26974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89320" y="3364992"/>
            <a:ext cx="59436" cy="80467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0" name="Text 16"/>
          <p:cNvSpPr/>
          <p:nvPr/>
        </p:nvSpPr>
        <p:spPr>
          <a:xfrm>
            <a:off x="6153912" y="34381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  </a:t>
            </a:r>
            <a:pPr indent="0" marL="0">
              <a:buNone/>
            </a:pPr>
            <a:r>
              <a:rPr lang="en-US" sz="1300" b="1" dirty="0">
                <a:solidFill>
                  <a:srgbClr val="9E2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+72.5  </a:t>
            </a:r>
            <a:pPr indent="0" marL="0">
              <a:buNone/>
            </a:pPr>
            <a:r>
              <a:rPr lang="en-US" sz="10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~52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153912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destabilizes without shaping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5989320" y="43708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On-policy advantage = training-time stability, not peak return.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Reward, Two Learned Doctrines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19830" y="1179576"/>
            <a:ext cx="4121059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8" name="Image 0" descr="assets/F4_action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126" y="1261872"/>
            <a:ext cx="3956467" cy="331012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23560" y="1417320"/>
            <a:ext cx="3063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23560" y="1417320"/>
            <a:ext cx="59436" cy="1371600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1" name="Text 7"/>
          <p:cNvSpPr/>
          <p:nvPr/>
        </p:nvSpPr>
        <p:spPr>
          <a:xfrm>
            <a:off x="580644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 — prevent at maneuver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84.4% of MANEUVER steps; suppresses the advance before impact; never isolates.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623560" y="2971800"/>
            <a:ext cx="3063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23560" y="2971800"/>
            <a:ext cx="59436" cy="1371600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4" name="Text 10"/>
          <p:cNvSpPr/>
          <p:nvPr/>
        </p:nvSpPr>
        <p:spPr>
          <a:xfrm>
            <a:off x="5806440" y="31089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— contain at impact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Admits the late stage, then isolates at the boundary. Different doctrine, same reward.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623560" y="4480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keep aggressive action on benign traffic under 1%.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E2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RESULTS — HEADLINE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Aliasing Crossover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82315" y="1216152"/>
            <a:ext cx="5316130" cy="3456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8" name="Image 0" descr="assets/Falpha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611" y="1298448"/>
            <a:ext cx="5151538" cy="32918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35040" y="1335024"/>
            <a:ext cx="26517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035040" y="1335024"/>
            <a:ext cx="59436" cy="932688"/>
          </a:xfrm>
          <a:prstGeom prst="rect">
            <a:avLst/>
          </a:prstGeom>
          <a:solidFill>
            <a:srgbClr val="5F7D62"/>
          </a:solidFill>
          <a:ln/>
        </p:spPr>
      </p:sp>
      <p:sp>
        <p:nvSpPr>
          <p:cNvPr id="11" name="Text 7"/>
          <p:cNvSpPr/>
          <p:nvPr/>
        </p:nvSpPr>
        <p:spPr>
          <a:xfrm>
            <a:off x="6199632" y="1408176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 at α = 0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+138.6 vs RF +136.5 — overlapping CIs. No built-in RL favoritism.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2377440"/>
            <a:ext cx="26517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035040" y="2377440"/>
            <a:ext cx="59436" cy="932688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4" name="Text 10"/>
          <p:cNvSpPr/>
          <p:nvPr/>
        </p:nvSpPr>
        <p:spPr>
          <a:xfrm>
            <a:off x="6199632" y="2450592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collapses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monotone fall to -29.3 at α = 1 — net-harmful under full ambiguity.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3419856"/>
            <a:ext cx="26517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35040" y="3419856"/>
            <a:ext cx="59436" cy="932688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7" name="Text 13"/>
          <p:cNvSpPr/>
          <p:nvPr/>
        </p:nvSpPr>
        <p:spPr>
          <a:xfrm>
            <a:off x="6199632" y="3493008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stays flat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disjoint CIs from α = 0.4 on; gap +26.9 widening to +161.2.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035040" y="4498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ceiling +194.8 — the price of perfect perception.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Advantage Survives Removing the Shaping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83464" y="1216152"/>
            <a:ext cx="5056632" cy="30048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8" name="Image 0" descr="assets/Fcoupling_reward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98448"/>
            <a:ext cx="4892040" cy="28402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806440" y="1417320"/>
            <a:ext cx="288036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806440" y="1417320"/>
            <a:ext cx="59436" cy="1207008"/>
          </a:xfrm>
          <a:prstGeom prst="rect">
            <a:avLst/>
          </a:prstGeom>
          <a:solidFill>
            <a:srgbClr val="B08A3E"/>
          </a:solidFill>
          <a:ln/>
        </p:spPr>
      </p:sp>
      <p:sp>
        <p:nvSpPr>
          <p:cNvPr id="11" name="Text 7"/>
          <p:cNvSpPr/>
          <p:nvPr/>
        </p:nvSpPr>
        <p:spPr>
          <a:xfrm>
            <a:off x="5989320" y="1536192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Coupled (shaped)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RL: DQN +226.2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− best-RL = -63.1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806440" y="2788920"/>
            <a:ext cx="288036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806440" y="2788920"/>
            <a:ext cx="59436" cy="1207008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4" name="Text 10"/>
          <p:cNvSpPr/>
          <p:nvPr/>
        </p:nvSpPr>
        <p:spPr>
          <a:xfrm>
            <a:off x="5989320" y="2907792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(sparse)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RL: A2C +146.1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− best-RL = -63.0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02920" y="4315968"/>
            <a:ext cx="8183880" cy="475488"/>
          </a:xfrm>
          <a:prstGeom prst="rect">
            <a:avLst/>
          </a:prstGeom>
          <a:solidFill>
            <a:srgbClr val="EFECE6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43159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Shaping changes which algorithm wins — not whether learned control leads.  </a:t>
            </a:r>
            <a:pPr indent="0" marL="0">
              <a:buNone/>
            </a:pPr>
            <a:r>
              <a:rPr lang="en-US" sz="11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(DQN: +226.2 coupled → -8.6 sparse.)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Robustness: Harsher Environments, Evasive Attackers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15214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difficulty (de-escalation prob.)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663440" y="115214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Evasive persistence (post-detection hardening)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5530" y="1453896"/>
            <a:ext cx="40609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10" name="Image 0" descr="assets/F10_aggressive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26" y="1536192"/>
            <a:ext cx="3896388" cy="2487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88466" y="1453896"/>
            <a:ext cx="3710469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12" name="Image 1" descr="assets/F17_evasion_swe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762" y="1536192"/>
            <a:ext cx="3545877" cy="2487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02920" y="4224528"/>
            <a:ext cx="39319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02920" y="4224528"/>
            <a:ext cx="59436" cy="548640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5" name="Text 10"/>
          <p:cNvSpPr/>
          <p:nvPr/>
        </p:nvSpPr>
        <p:spPr>
          <a:xfrm>
            <a:off x="685800" y="42245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 leads at every difficulty; widest on-policy margin at the harshest setting.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09160" y="4224528"/>
            <a:ext cx="39319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709160" y="4224528"/>
            <a:ext cx="59436" cy="548640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8" name="Text 13"/>
          <p:cNvSpPr/>
          <p:nvPr/>
        </p:nvSpPr>
        <p:spPr>
          <a:xfrm>
            <a:off x="4892040" y="42245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 clears the pre-registered 25% criterion (+142.6 → +112.7); PPO narrowly misses.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Attack Classes the System Never Saw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761983" y="1124712"/>
            <a:ext cx="3596674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8" name="Image 0" descr="assets/F15_ood_robust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79" y="1207008"/>
            <a:ext cx="3432082" cy="34015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5780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E5C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0.71 – 0.85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5257800" y="17739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windowed RL (A2C): prevention on every held-out class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257800" y="2331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9E2B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 – 0.15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5257800" y="27797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RF-Acting: prevention on the same classes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257800" y="3337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F7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+0.70 to +0.78</a:t>
            </a:r>
            <a:endParaRPr lang="en-US" sz="2700" dirty="0"/>
          </a:p>
        </p:txBody>
      </p:sp>
      <p:sp>
        <p:nvSpPr>
          <p:cNvPr id="14" name="Text 10"/>
          <p:cNvSpPr/>
          <p:nvPr/>
        </p:nvSpPr>
        <p:spPr>
          <a:xfrm>
            <a:off x="5257800" y="378561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on every single class — none negative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257800" y="43159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(always-BLOCK reaches 1.0 only by disrupting 100% of benign traffic — inadmissible; learned agents stay under 1%.)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Dependence on Detector Recall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83464" y="1179576"/>
            <a:ext cx="5056632" cy="34748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8" name="Image 0" descr="assets/F15b_recall_vs_adva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61872"/>
            <a:ext cx="4892040" cy="33102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146304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 ρ = 0.22 (p = 0.54) · Pearson r = -0.02 (p = 0.95)</a:t>
            </a:r>
            <a:endParaRPr lang="en-US" sz="11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 slope 95% CI [-0.08, +0.04] — spans zero</a:t>
            </a:r>
            <a:endParaRPr lang="en-US" sz="11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as large where the detector sees almost perfectly as where it is nearly blind</a:t>
            </a:r>
            <a:endParaRPr lang="en-US" sz="1100" dirty="0"/>
          </a:p>
          <a:p>
            <a:pPr marL="177800" indent="-177800">
              <a:buSzPct val="100000"/>
              <a:buChar char="▪"/>
            </a:pPr>
            <a:r>
              <a:rPr lang="en-US" sz="11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RF acts passively on ~2/3 of steps → attacker reaches impact → late block = mitigated, not prevented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0" y="4343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 stated plainly: n = 10 classes — no detectable trend, not proof of independence.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CLOSING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— Stated, Not Hidden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298448"/>
            <a:ext cx="397764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298448"/>
            <a:ext cx="3977640" cy="50292"/>
          </a:xfrm>
          <a:prstGeom prst="rect">
            <a:avLst/>
          </a:prstGeom>
          <a:solidFill>
            <a:srgbClr val="2A2A2E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" y="1408176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abstractions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9224" y="1673352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coherence + aliasing are environment-layer constructs; α is a knob, not a measured deployment property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298448"/>
            <a:ext cx="397764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298448"/>
            <a:ext cx="3977640" cy="50292"/>
          </a:xfrm>
          <a:prstGeom prst="rect">
            <a:avLst/>
          </a:prstGeom>
          <a:solidFill>
            <a:srgbClr val="2A2A2E"/>
          </a:solidFill>
          <a:ln/>
        </p:spPr>
      </p:sp>
      <p:sp>
        <p:nvSpPr>
          <p:cNvPr id="13" name="Text 10"/>
          <p:cNvSpPr/>
          <p:nvPr/>
        </p:nvSpPr>
        <p:spPr>
          <a:xfrm>
            <a:off x="4809744" y="1408176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advantage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09744" y="1673352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α = 0 the claim is a tie — the win emerges only as ambiguity grows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" y="2487168"/>
            <a:ext cx="397764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2487168"/>
            <a:ext cx="3977640" cy="50292"/>
          </a:xfrm>
          <a:prstGeom prst="rect">
            <a:avLst/>
          </a:prstGeom>
          <a:solidFill>
            <a:srgbClr val="2A2A2E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" y="2596896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attacker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9224" y="2862072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but not co-trained; crossover is conditional on this attacker class — self-play deferred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63440" y="2487168"/>
            <a:ext cx="397764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63440" y="2487168"/>
            <a:ext cx="3977640" cy="50292"/>
          </a:xfrm>
          <a:prstGeom prst="rect">
            <a:avLst/>
          </a:prstGeom>
          <a:solidFill>
            <a:srgbClr val="2A2A2E"/>
          </a:solidFill>
          <a:ln/>
        </p:spPr>
      </p:sp>
      <p:sp>
        <p:nvSpPr>
          <p:cNvPr id="21" name="Text 18"/>
          <p:cNvSpPr/>
          <p:nvPr/>
        </p:nvSpPr>
        <p:spPr>
          <a:xfrm>
            <a:off x="4809744" y="2596896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Memoryless baseline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809744" y="2862072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Isolates windowed vs per-flow control — a windowed supervised baseline is named follow-up work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2920" y="3675888"/>
            <a:ext cx="397764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3675888"/>
            <a:ext cx="3977640" cy="50292"/>
          </a:xfrm>
          <a:prstGeom prst="rect">
            <a:avLst/>
          </a:prstGeom>
          <a:solidFill>
            <a:srgbClr val="2A2A2E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" y="3785616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dataset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49224" y="4050792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CICIoT2023 only; replication on Bot-IoT required before claiming dataset independence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663440" y="3675888"/>
            <a:ext cx="397764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3675888"/>
            <a:ext cx="3977640" cy="50292"/>
          </a:xfrm>
          <a:prstGeom prst="rect">
            <a:avLst/>
          </a:prstGeom>
          <a:solidFill>
            <a:srgbClr val="2A2A2E"/>
          </a:solidFill>
          <a:ln/>
        </p:spPr>
      </p:sp>
      <p:sp>
        <p:nvSpPr>
          <p:cNvPr id="29" name="Text 26"/>
          <p:cNvSpPr/>
          <p:nvPr/>
        </p:nvSpPr>
        <p:spPr>
          <a:xfrm>
            <a:off x="4809744" y="3785616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OOD scope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809744" y="4050792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Feature-injection stress test at n = 10 classes — not deployed zero-day generalization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CLOSING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Dissertation Establishes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81381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325880"/>
            <a:ext cx="59436" cy="777240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41732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2B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34440" y="1417320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crossover is real and controlled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 at α = 0 → disjoint CIs from α = 0.4 → RF net-harmful at α = 1 while windowed PPO holds flat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221992"/>
            <a:ext cx="81381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221992"/>
            <a:ext cx="59436" cy="777240"/>
          </a:xfrm>
          <a:prstGeom prst="rect">
            <a:avLst/>
          </a:prstGeom>
          <a:solidFill>
            <a:srgbClr val="B08A3E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31343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8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234440" y="231343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a reward artifact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learned agent leads under both reward contracts (-63.1 coupled, -63.0 sparse)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3118104"/>
            <a:ext cx="81381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3118104"/>
            <a:ext cx="59436" cy="777240"/>
          </a:xfrm>
          <a:prstGeom prst="rect">
            <a:avLst/>
          </a:prstGeom>
          <a:solidFill>
            <a:srgbClr val="5F7D62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20954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7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234440" y="3209544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extends to unseen attack classes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 advantage +0.70–+0.78 on all 10 held-out classes — independent of detector recall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2920" y="4114800"/>
            <a:ext cx="8138160" cy="658368"/>
          </a:xfrm>
          <a:prstGeom prst="rect">
            <a:avLst/>
          </a:prstGeom>
          <a:solidFill>
            <a:srgbClr val="EFECE6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41879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Operationally deployable: </a:t>
            </a:r>
            <a:pPr indent="0" marL="0">
              <a:buNone/>
            </a:pPr>
            <a:r>
              <a:rPr lang="en-US" sz="11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 disruption &lt; 1% · policy footprint 90 KB / 23K params (vs 181 MB tuned RF) · fully reproducible (462 tests, hash-pinned figures)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CLOSING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Goes Next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262432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325880"/>
            <a:ext cx="2624328" cy="54864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" y="1463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the claim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9224" y="1828800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Windowed supervised baseline (named follow-up)</a:t>
            </a:r>
            <a:endParaRPr lang="en-US" sz="10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 belief-state policies</a:t>
            </a:r>
            <a:endParaRPr lang="en-US" sz="1000" dirty="0"/>
          </a:p>
          <a:p>
            <a:pPr marL="177800" indent="-177800">
              <a:buSzPct val="100000"/>
              <a:buChar char="▪"/>
            </a:pPr>
            <a:r>
              <a:rPr lang="en-US" sz="10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dataset: Bot-IoT replication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64408" y="1325880"/>
            <a:ext cx="262432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64408" y="1325880"/>
            <a:ext cx="2624328" cy="5486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3" name="Text 10"/>
          <p:cNvSpPr/>
          <p:nvPr/>
        </p:nvSpPr>
        <p:spPr>
          <a:xfrm>
            <a:off x="3410712" y="1463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Harder adversaries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410712" y="1828800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Co-adaptive self-play attacker</a:t>
            </a:r>
            <a:endParaRPr lang="en-US" sz="10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Stage-skipping / non-monotonic chains</a:t>
            </a:r>
            <a:endParaRPr lang="en-US" sz="1000" dirty="0"/>
          </a:p>
          <a:p>
            <a:pPr marL="177800" indent="-177800">
              <a:buSzPct val="100000"/>
              <a:buChar char="▪"/>
            </a:pPr>
            <a:r>
              <a:rPr lang="en-US" sz="10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cooperative defense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25896" y="1325880"/>
            <a:ext cx="262432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25896" y="1325880"/>
            <a:ext cx="2624328" cy="54864"/>
          </a:xfrm>
          <a:prstGeom prst="rect">
            <a:avLst/>
          </a:prstGeom>
          <a:solidFill>
            <a:srgbClr val="5F7D62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463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 deployment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172200" y="1828800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Edge-hardware cost quantification</a:t>
            </a:r>
            <a:endParaRPr lang="en-US" sz="10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multi-site training</a:t>
            </a:r>
            <a:endParaRPr lang="en-US" sz="1000" dirty="0"/>
          </a:p>
          <a:p>
            <a:pPr marL="177800" indent="-177800">
              <a:buSzPct val="100000"/>
              <a:buChar char="▪"/>
            </a:pPr>
            <a:r>
              <a:rPr lang="en-US" sz="10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Constrained-MDP FPR guarantees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3977640"/>
            <a:ext cx="81381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3977640"/>
            <a:ext cx="59436" cy="777240"/>
          </a:xfrm>
          <a:prstGeom prst="rect">
            <a:avLst/>
          </a:prstGeom>
          <a:solidFill>
            <a:srgbClr val="B08A3E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069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Dissemination: </a:t>
            </a:r>
            <a:pPr indent="0" marL="0">
              <a:buNone/>
            </a:pPr>
            <a:r>
              <a:rPr lang="en-US" sz="11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condensed journal article submitted to Elsevier Internet of Things (2026) · code + hash-chain manifests public on GitHub (feli-santos/rl-iot-defense-system)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3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5079492"/>
            <a:ext cx="1828800" cy="64008"/>
          </a:xfrm>
          <a:prstGeom prst="rect">
            <a:avLst/>
          </a:prstGeom>
          <a:solidFill>
            <a:srgbClr val="5F7D62"/>
          </a:solidFill>
          <a:ln/>
        </p:spPr>
      </p:sp>
      <p:sp>
        <p:nvSpPr>
          <p:cNvPr id="4" name="Shape 1"/>
          <p:cNvSpPr/>
          <p:nvPr/>
        </p:nvSpPr>
        <p:spPr>
          <a:xfrm>
            <a:off x="1828800" y="5079492"/>
            <a:ext cx="1828800" cy="64008"/>
          </a:xfrm>
          <a:prstGeom prst="rect">
            <a:avLst/>
          </a:prstGeom>
          <a:solidFill>
            <a:srgbClr val="B08A3E"/>
          </a:solidFill>
          <a:ln/>
        </p:spPr>
      </p:sp>
      <p:sp>
        <p:nvSpPr>
          <p:cNvPr id="5" name="Shape 2"/>
          <p:cNvSpPr/>
          <p:nvPr/>
        </p:nvSpPr>
        <p:spPr>
          <a:xfrm>
            <a:off x="3657600" y="5079492"/>
            <a:ext cx="1828800" cy="64008"/>
          </a:xfrm>
          <a:prstGeom prst="rect">
            <a:avLst/>
          </a:prstGeom>
          <a:solidFill>
            <a:srgbClr val="C0703C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0" y="5079492"/>
            <a:ext cx="1828800" cy="64008"/>
          </a:xfrm>
          <a:prstGeom prst="rect">
            <a:avLst/>
          </a:prstGeom>
          <a:solidFill>
            <a:srgbClr val="A94E38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0" y="5079492"/>
            <a:ext cx="1828800" cy="64008"/>
          </a:xfrm>
          <a:prstGeom prst="rect">
            <a:avLst/>
          </a:prstGeom>
          <a:solidFill>
            <a:srgbClr val="8C2B2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554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85800" y="2514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5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· colleagues · family — obrigado.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32461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Felipe Augusto Oliveira dos Santos · FEEC / UNICAMP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5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Advisor: Prof. Dr. Denis Fantinato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5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&amp; reproducibility: github.com/feli-santos/rl-iot-defense-system</a:t>
            </a:r>
            <a:endParaRPr lang="en-US" sz="1200" dirty="0"/>
          </a:p>
        </p:txBody>
      </p:sp>
      <p:pic>
        <p:nvPicPr>
          <p:cNvPr id="11" name="Image 0" descr="assets/unicamp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586774"/>
            <a:ext cx="914400" cy="9646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66560" y="4754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slides follow →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3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85800" y="2880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detail for questions — reward constants · hyperparameters · kill-chain mapping · detector performance · benign safety · reproducibility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B1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 Constants (Environment Design Defaults)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25880"/>
                <a:gridCol w="2743200"/>
                <a:gridCol w="13258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terminal penalty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de-escalation reward (capped 150)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defense-success bonus (terminal)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proportionality bonus (capped 100)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missed-impact penalty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disproportion penalty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prevention bonus (truncation)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benign-passive bonus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overreact-on-benign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block-on-benign / on-recon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−100 / −50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p_down (ISOLATE)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 (0.98)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p_up base / proximity floor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 / 0.4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onset recon / access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 / 0.10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 costs (obs→iso)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0, .1, .3, .5, .8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outcome contract strips the five stage-conditioned shaping components; action cost + terminal accounting + prevention remain.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B2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Hyperparameters (Grid-Searched per Algorithm)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73352"/>
                <a:gridCol w="1673352"/>
                <a:gridCol w="1682496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Hyperparameter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A2C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DQN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× 10⁻⁴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× 10⁻⁴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× 10⁻⁴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Discount γ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Rollout n_steps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GAE λ / entropy / value coef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 / 0.01 / 0.5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 / 0.01 / 0.5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Epochs × batch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× 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Replay buffer / learning starts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200k / 5000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update / exploration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5000 / 1.0→0.05 (20%)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(all)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 2×64 ReLU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 2×64 ReLU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 2×64 ReLU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4572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seeds × 5,000,000 steps, no early stopping; best-on-validation checkpoint carried to the benchmark.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B3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CICIoT2023 → Kill-Chain Mapping (34 Labels, 10 Held Out)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7665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CICIoT2023 labels (★ = held out)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BenignTraffic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66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PortScan · OSScan★ · HostDiscovery · PingSweep · VulnerabilityScan★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1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BrowserHijacking · CommandInjection · SqlInjection★ · Backdoor_Malware · Uploading_Attack · XSS★ · DictionaryBruteForce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MANEUVER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MITM-ArpSpoofing · DNS_Spoofing★ · Mirai-greeth_flood · Mirai-greip_flood · Mirai-udpplain★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DoS + 12 DDoS flood variants, incl. DoS-SYN_Flood★ · DDoS-ACK_Fragmentation★ · DDoS-SlowLoris★ · DDoS-HTTP_Flood★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map ψ implemented in code; ≥ 2 held-out classes per non-benign stage enable the OOD probe across the whole chain.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B4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Tuned RandomForest Detector Is Not a Straw Man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29184" y="1216152"/>
            <a:ext cx="4325112" cy="2561035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8" name="Image 0" descr="assets/tuned_rf_per_class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98448"/>
            <a:ext cx="4160520" cy="239644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901184" y="1216152"/>
            <a:ext cx="3841985" cy="3182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10" name="Image 1" descr="assets/tuned_rf_confu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98448"/>
            <a:ext cx="3677393" cy="3017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0.924 (held-out balanced test) · worst class 0.87 on the ambiguous middle stages · grid-flat validation — </a:t>
            </a:r>
            <a:pPr indent="0" marL="0">
              <a:buNone/>
            </a:pPr>
            <a:r>
              <a:rPr lang="en-US" sz="10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classifier a practitioner would deploy.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B5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Benign Safety: Prevention Without Collateral Damage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02920" y="14813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always-OBSERVE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011680" y="148132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34640" y="1508760"/>
            <a:ext cx="3657600" cy="256032"/>
          </a:xfrm>
          <a:prstGeom prst="rect">
            <a:avLst/>
          </a:prstGeom>
          <a:solidFill>
            <a:srgbClr val="ECE8E1"/>
          </a:solidFill>
          <a:ln/>
        </p:spPr>
      </p:sp>
      <p:sp>
        <p:nvSpPr>
          <p:cNvPr id="10" name="Shape 7"/>
          <p:cNvSpPr/>
          <p:nvPr/>
        </p:nvSpPr>
        <p:spPr>
          <a:xfrm>
            <a:off x="2834640" y="1508760"/>
            <a:ext cx="27432" cy="256032"/>
          </a:xfrm>
          <a:prstGeom prst="rect">
            <a:avLst/>
          </a:prstGeom>
          <a:solidFill>
            <a:srgbClr val="76767E"/>
          </a:solidFill>
          <a:ln/>
        </p:spPr>
      </p:sp>
      <p:sp>
        <p:nvSpPr>
          <p:cNvPr id="11" name="Text 8"/>
          <p:cNvSpPr/>
          <p:nvPr/>
        </p:nvSpPr>
        <p:spPr>
          <a:xfrm>
            <a:off x="3328416" y="1490472"/>
            <a:ext cx="5586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acts — every attack lands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2920" y="19751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011680" y="197510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0.46%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834640" y="2002536"/>
            <a:ext cx="3657600" cy="256032"/>
          </a:xfrm>
          <a:prstGeom prst="rect">
            <a:avLst/>
          </a:prstGeom>
          <a:solidFill>
            <a:srgbClr val="ECE8E1"/>
          </a:solidFill>
          <a:ln/>
        </p:spPr>
      </p:sp>
      <p:sp>
        <p:nvSpPr>
          <p:cNvPr id="15" name="Shape 12"/>
          <p:cNvSpPr/>
          <p:nvPr/>
        </p:nvSpPr>
        <p:spPr>
          <a:xfrm>
            <a:off x="2834640" y="2002536"/>
            <a:ext cx="248071" cy="256032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6" name="Text 13"/>
          <p:cNvSpPr/>
          <p:nvPr/>
        </p:nvSpPr>
        <p:spPr>
          <a:xfrm>
            <a:off x="3328416" y="1984248"/>
            <a:ext cx="5586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threshold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" y="2468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011680" y="246888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0.66%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834640" y="2496312"/>
            <a:ext cx="3657600" cy="256032"/>
          </a:xfrm>
          <a:prstGeom prst="rect">
            <a:avLst/>
          </a:prstGeom>
          <a:solidFill>
            <a:srgbClr val="ECE8E1"/>
          </a:solidFill>
          <a:ln/>
        </p:spPr>
      </p:sp>
      <p:sp>
        <p:nvSpPr>
          <p:cNvPr id="20" name="Shape 17"/>
          <p:cNvSpPr/>
          <p:nvPr/>
        </p:nvSpPr>
        <p:spPr>
          <a:xfrm>
            <a:off x="2834640" y="2496312"/>
            <a:ext cx="297145" cy="256032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21" name="Text 18"/>
          <p:cNvSpPr/>
          <p:nvPr/>
        </p:nvSpPr>
        <p:spPr>
          <a:xfrm>
            <a:off x="3328416" y="2478024"/>
            <a:ext cx="5586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threshold — strongest defender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2920" y="29626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011680" y="296265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0.89%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834640" y="2990088"/>
            <a:ext cx="3657600" cy="256032"/>
          </a:xfrm>
          <a:prstGeom prst="rect">
            <a:avLst/>
          </a:prstGeom>
          <a:solidFill>
            <a:srgbClr val="ECE8E1"/>
          </a:solidFill>
          <a:ln/>
        </p:spPr>
      </p:sp>
      <p:sp>
        <p:nvSpPr>
          <p:cNvPr id="25" name="Shape 22"/>
          <p:cNvSpPr/>
          <p:nvPr/>
        </p:nvSpPr>
        <p:spPr>
          <a:xfrm>
            <a:off x="2834640" y="2990088"/>
            <a:ext cx="345057" cy="256032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26" name="Text 23"/>
          <p:cNvSpPr/>
          <p:nvPr/>
        </p:nvSpPr>
        <p:spPr>
          <a:xfrm>
            <a:off x="3328416" y="2971800"/>
            <a:ext cx="5586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threshold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2920" y="34564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011680" y="345643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0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41.3%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834640" y="3483864"/>
            <a:ext cx="3657600" cy="256032"/>
          </a:xfrm>
          <a:prstGeom prst="rect">
            <a:avLst/>
          </a:prstGeom>
          <a:solidFill>
            <a:srgbClr val="ECE8E1"/>
          </a:solidFill>
          <a:ln/>
        </p:spPr>
      </p:sp>
      <p:sp>
        <p:nvSpPr>
          <p:cNvPr id="30" name="Shape 27"/>
          <p:cNvSpPr/>
          <p:nvPr/>
        </p:nvSpPr>
        <p:spPr>
          <a:xfrm>
            <a:off x="2834640" y="3483864"/>
            <a:ext cx="2350559" cy="256032"/>
          </a:xfrm>
          <a:prstGeom prst="rect">
            <a:avLst/>
          </a:prstGeom>
          <a:solidFill>
            <a:srgbClr val="B08A3E"/>
          </a:solidFill>
          <a:ln/>
        </p:spPr>
      </p:sp>
      <p:sp>
        <p:nvSpPr>
          <p:cNvPr id="31" name="Text 28"/>
          <p:cNvSpPr/>
          <p:nvPr/>
        </p:nvSpPr>
        <p:spPr>
          <a:xfrm>
            <a:off x="5313215" y="3465576"/>
            <a:ext cx="36021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disrupts 4 in 10 benign flows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02920" y="39502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always-BLOCK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011680" y="395020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2834640" y="3977640"/>
            <a:ext cx="3657600" cy="256032"/>
          </a:xfrm>
          <a:prstGeom prst="rect">
            <a:avLst/>
          </a:prstGeom>
          <a:solidFill>
            <a:srgbClr val="ECE8E1"/>
          </a:solidFill>
          <a:ln/>
        </p:spPr>
      </p:sp>
      <p:sp>
        <p:nvSpPr>
          <p:cNvPr id="35" name="Shape 32"/>
          <p:cNvSpPr/>
          <p:nvPr/>
        </p:nvSpPr>
        <p:spPr>
          <a:xfrm>
            <a:off x="2834640" y="3977640"/>
            <a:ext cx="3657600" cy="25603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6" name="Text 33"/>
          <p:cNvSpPr/>
          <p:nvPr/>
        </p:nvSpPr>
        <p:spPr>
          <a:xfrm>
            <a:off x="6620256" y="395935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prevention, inadmissible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200400" y="1389888"/>
            <a:ext cx="0" cy="3017520"/>
          </a:xfrm>
          <a:prstGeom prst="line">
            <a:avLst/>
          </a:prstGeom>
          <a:noFill/>
          <a:ln w="19050">
            <a:solidFill>
              <a:srgbClr val="9E2B25"/>
            </a:solidFill>
            <a:prstDash val="dash"/>
          </a:ln>
        </p:spPr>
      </p:sp>
      <p:sp>
        <p:nvSpPr>
          <p:cNvPr id="38" name="Text 35"/>
          <p:cNvSpPr/>
          <p:nvPr/>
        </p:nvSpPr>
        <p:spPr>
          <a:xfrm>
            <a:off x="2743200" y="11338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E2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operational threshold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action (block / isolate) on true-benign flows · square-root scale for visibility · always-OBSERVE scores ≈ −350 reward.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B6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Reproducibility: Every Number Has a Chain of Custody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838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600200"/>
            <a:ext cx="193852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71907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5C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run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228600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summary JSON + manifest (input hashes + git SHA)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78024" y="2304288"/>
            <a:ext cx="54864" cy="0"/>
          </a:xfrm>
          <a:prstGeom prst="line">
            <a:avLst/>
          </a:prstGeom>
          <a:noFill/>
          <a:ln w="22225">
            <a:solidFill>
              <a:srgbClr val="55555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569464" y="1600200"/>
            <a:ext cx="193852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9464" y="171907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5C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569464" y="20116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layer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660904" y="228600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macros + tables generated from JSONs — no hand-typed numbers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44568" y="2304288"/>
            <a:ext cx="54864" cy="0"/>
          </a:xfrm>
          <a:prstGeom prst="line">
            <a:avLst/>
          </a:prstGeom>
          <a:noFill/>
          <a:ln w="22225">
            <a:solidFill>
              <a:srgbClr val="55555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636008" y="1600200"/>
            <a:ext cx="193852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171907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5C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36008" y="20116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build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27448" y="228600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LaTeX consumes generated macros; figures pinned by hash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611112" y="2304288"/>
            <a:ext cx="54864" cy="0"/>
          </a:xfrm>
          <a:prstGeom prst="line">
            <a:avLst/>
          </a:prstGeom>
          <a:noFill/>
          <a:ln w="22225">
            <a:solidFill>
              <a:srgbClr val="55555C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702552" y="1600200"/>
            <a:ext cx="1938528" cy="1417320"/>
          </a:xfrm>
          <a:prstGeom prst="rect">
            <a:avLst/>
          </a:prstGeom>
          <a:solidFill>
            <a:srgbClr val="2A2A2E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02552" y="171907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8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702552" y="20116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793992" y="228600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re-walks every manifest on a fresh checkout → PASS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2960" y="3520440"/>
            <a:ext cx="23774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E5C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462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22960" y="39532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 on a fresh checkout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566160" y="3520440"/>
            <a:ext cx="23774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SHA-256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3566160" y="39532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chain, splits to figures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309360" y="3520440"/>
            <a:ext cx="23774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F7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retrain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6309360" y="39532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without retraining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FEEC / UNICAMP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Deep Reinforcement Learning Framework for Autonomous Cybersecurity Defense in IoT Networks</dc:title>
  <dc:subject>Master's Defense</dc:subject>
  <dc:creator>Felipe Augusto Oliveira dos Santos</dc:creator>
  <cp:lastModifiedBy>Felipe Augusto Oliveira dos Santos</cp:lastModifiedBy>
  <cp:revision>1</cp:revision>
  <dcterms:created xsi:type="dcterms:W3CDTF">2026-08-21T06:08:17Z</dcterms:created>
  <dcterms:modified xsi:type="dcterms:W3CDTF">2026-08-21T06:08:17Z</dcterms:modified>
</cp:coreProperties>
</file>