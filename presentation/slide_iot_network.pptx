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SLIDE-PONTE (~70 s). Antes de falarmos de vulnerabilidades, vamos concordar sobre o que é, concretamente, uma rede IoT. São objetos do cotidiano — câmeras, sensores de presença, fechaduras inteligentes, termostatos, caixas de som, vestíveis — equipados com sensores, um pouco de computação e uma interface de rede. A organização típica tem três camadas. Na borda, as “coisas”: dispositivos restritos, baratos e sem fio, que sentem e agem sobre o mundo físico. No meio, um gateway ou hub, que agrega o tráfego e traduz protocolos — Zigbee, BLE e Wi-Fi do lado dos dispositivos; MQTT e HTTP sobre a Internet do outro lado. E na ponta, os serviços de nuvem: análise, painéis e controle remoto. A telemetria sobe, os comandos descem — e cada salto desse caminho é tráfego de rede. Três características definem essas redes e importam para segurança. Primeira: o mundo físico está dentro do laço de controle — um dispositivo comprometido tem consequência física, não apenas digital. Segunda: o hardware é classe microcontrolador — kilobytes de RAM e orçamento de bateria; não há espaço para antivírus nem agente de endpoint. Terceira: o conjunto é heterogêneo e está sempre conectado — dezenas de fabricantes e protocolos, todos com um caminho até a Internet. Guardem esta imagem: cada elemento aqui é alcançável pela rede — e quase nenhum consegue se defender sozinho. É exatamente isso que o próximo slide quantifica.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CONTEXT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A2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IoT Network?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74320" y="48326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FEEC · UNICAMP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objects that sense, decide, and act — connected through a gateway to cloud services.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2697480" cy="1920240"/>
          </a:xfrm>
          <a:prstGeom prst="rect">
            <a:avLst/>
          </a:prstGeom>
          <a:solidFill>
            <a:srgbClr val="EFECE6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54480"/>
            <a:ext cx="2697480" cy="54864"/>
          </a:xfrm>
          <a:prstGeom prst="rect">
            <a:avLst/>
          </a:prstGeom>
          <a:solidFill>
            <a:srgbClr val="5F7D62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6459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Things — sensors &amp; actuators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186537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· cheap · wireless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12648" y="2121408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1214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29384" y="2121408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9384" y="21214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sensor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" y="256032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25603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lock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29384" y="256032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9384" y="25603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Thermostat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" y="2999232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29992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929384" y="2999232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9384" y="29992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0" y="20848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Zigbee · BLE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200400" y="2514600"/>
            <a:ext cx="731520" cy="0"/>
          </a:xfrm>
          <a:prstGeom prst="line">
            <a:avLst/>
          </a:prstGeom>
          <a:noFill/>
          <a:ln w="19050">
            <a:solidFill>
              <a:srgbClr val="55555C"/>
            </a:solidFill>
            <a:prstDash val="solid"/>
            <a:headEnd type="triangl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931920" y="2103120"/>
            <a:ext cx="16916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3E5C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22128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E5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/ Hub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005072" y="2487168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aggregates traffic · bridges protocols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86984" y="224942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· HTTP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623560" y="2514600"/>
            <a:ext cx="731520" cy="0"/>
          </a:xfrm>
          <a:prstGeom prst="line">
            <a:avLst/>
          </a:prstGeom>
          <a:noFill/>
          <a:ln w="19050">
            <a:solidFill>
              <a:srgbClr val="55555C"/>
            </a:solidFill>
            <a:prstDash val="solid"/>
            <a:headEnd type="triangl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355080" y="1737360"/>
            <a:ext cx="2286000" cy="1508760"/>
          </a:xfrm>
          <a:prstGeom prst="cloud">
            <a:avLst/>
          </a:prstGeom>
          <a:solidFill>
            <a:srgbClr val="FFFFFF"/>
          </a:solidFill>
          <a:ln w="12700">
            <a:solidFill>
              <a:srgbClr val="8FA3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22128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services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24688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· dashboards · remote control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91840" y="3291840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67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flows up · commands flow down — every hop is network traffic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" y="3611880"/>
            <a:ext cx="261518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3611880"/>
            <a:ext cx="2615184" cy="50292"/>
          </a:xfrm>
          <a:prstGeom prst="rect">
            <a:avLst/>
          </a:prstGeom>
          <a:solidFill>
            <a:srgbClr val="5F7D62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712464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 → decide → act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0080" y="3968496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physical world sits inside the control loop — a hijacked device has physical consequences.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64408" y="3611880"/>
            <a:ext cx="261518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64408" y="3611880"/>
            <a:ext cx="2615184" cy="50292"/>
          </a:xfrm>
          <a:prstGeom prst="rect">
            <a:avLst/>
          </a:prstGeom>
          <a:solidFill>
            <a:srgbClr val="B08A3E"/>
          </a:solidFill>
          <a:ln/>
        </p:spPr>
      </p:sp>
      <p:sp>
        <p:nvSpPr>
          <p:cNvPr id="39" name="Text 37"/>
          <p:cNvSpPr/>
          <p:nvPr/>
        </p:nvSpPr>
        <p:spPr>
          <a:xfrm>
            <a:off x="3401568" y="3712464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MCU-class hardware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401568" y="3968496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Kilobytes of RAM, battery budgets — no room for antivirus or endpoint agents.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25896" y="3611880"/>
            <a:ext cx="261518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25896" y="3611880"/>
            <a:ext cx="2615184" cy="50292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43" name="Text 41"/>
          <p:cNvSpPr/>
          <p:nvPr/>
        </p:nvSpPr>
        <p:spPr>
          <a:xfrm>
            <a:off x="6163056" y="3712464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Heterogeneous, always on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163056" y="3968496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Dozens of vendors and protocols — and every one of them has a path to the Internet.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2920" y="456285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 Keep this picture in mind: </a:t>
            </a:r>
            <a:pPr indent="0" marL="0">
              <a:buNone/>
            </a:pPr>
            <a:r>
              <a:rPr lang="en-US" sz="1150" dirty="0">
                <a:solidFill>
                  <a:srgbClr val="55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reachable over the network — almost nothing defends itself.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2026-08-24T09:55:43Z</dcterms:created>
  <dcterms:modified xsi:type="dcterms:W3CDTF">2026-08-24T09:55:43Z</dcterms:modified>
</cp:coreProperties>
</file>